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image" Target="../media/image-7-2.png"/><Relationship Id="rId5" Type="http://schemas.openxmlformats.org/officeDocument/2006/relationships/image" Target="../media/image-7-2.png"/><Relationship Id="rId6" Type="http://schemas.openxmlformats.org/officeDocument/2006/relationships/image" Target="../media/image-7-6.png"/><Relationship Id="rId7" Type="http://schemas.openxmlformats.org/officeDocument/2006/relationships/image" Target="../media/image-7-6.png"/><Relationship Id="rId8" Type="http://schemas.openxmlformats.org/officeDocument/2006/relationships/image" Target="../media/image-7-6.png"/><Relationship Id="rId9" Type="http://schemas.openxmlformats.org/officeDocument/2006/relationships/image" Target="../media/image-7-6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image" Target="../media/image-8-2.png"/><Relationship Id="rId6" Type="http://schemas.openxmlformats.org/officeDocument/2006/relationships/image" Target="../media/image-8-6.png"/><Relationship Id="rId7" Type="http://schemas.openxmlformats.org/officeDocument/2006/relationships/image" Target="../media/image-8-6.png"/><Relationship Id="rId8" Type="http://schemas.openxmlformats.org/officeDocument/2006/relationships/image" Target="../media/image-8-6.png"/><Relationship Id="rId9" Type="http://schemas.openxmlformats.org/officeDocument/2006/relationships/image" Target="../media/image-8-6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2.png"/><Relationship Id="rId4" Type="http://schemas.openxmlformats.org/officeDocument/2006/relationships/image" Target="../media/image-11-2.png"/><Relationship Id="rId5" Type="http://schemas.openxmlformats.org/officeDocument/2006/relationships/image" Target="../media/image-11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/home/claude/soutenance/icons/ba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9945" y="929945"/>
            <a:ext cx="608990" cy="60899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OLIST — MONGODB &amp; FASTAPI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3375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Concevoir, stocker et exposer des données e-commerce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Data Engineering — Soutenance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6217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[Prénom Nom 1]   ·   [Prénom Nom 2]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contexte : un vrai jeu de données e-commerce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0F7F7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783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99 441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383280" y="15544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0F7F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383280" y="1783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2016-2018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2606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 couverte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0F7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783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606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CSV utilisés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052560" y="1554480"/>
            <a:ext cx="2606040" cy="1737360"/>
          </a:xfrm>
          <a:prstGeom prst="roundRect">
            <a:avLst>
              <a:gd name="adj" fmla="val 6316"/>
            </a:avLst>
          </a:prstGeom>
          <a:solidFill>
            <a:srgbClr val="F0F7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052560" y="1783080"/>
            <a:ext cx="2606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9052560" y="260604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 MongoDB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37490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met à disposition les données réelles d’une plateforme e-commerce brésilienne : clients, commandes, produits, vendeurs, paiements et avis.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4805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mission : concevoir un modèle MongoDB cohérent (pas une simple copie des tables), puis exposer ces données via une API REST fiable et documentée.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0881360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/home/claude/soutenance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625" y="609905"/>
            <a:ext cx="608990" cy="60899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594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MongoDB, expliqué simplement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base de données qui stocke des </a:t>
            </a:r>
            <a:pPr indent="0" marL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pPr indent="0" marL="0">
              <a:buNone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(comme des fiches JSON), pas des tableaux à colonnes fixes.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74320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document peut contenir des sous-listes et des sous-objets à l’intérieur de lui-même — c’est ce qui permet de regrouper des informations liées au même endroit.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4297680"/>
            <a:ext cx="5486400" cy="1737360"/>
          </a:xfrm>
          <a:prstGeom prst="roundRect">
            <a:avLst>
              <a:gd name="adj" fmla="val 6316"/>
            </a:avLst>
          </a:prstGeom>
          <a:solidFill>
            <a:srgbClr val="F0F7F7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45262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de schéma fixe imposé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868680" y="493776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Contrairement au SQL, deux documents d’une même collection peuvent avoir des champs différents — utile quand les usages évoluent.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92240" y="1417320"/>
            <a:ext cx="5120640" cy="4480560"/>
          </a:xfrm>
          <a:prstGeom prst="roundRect">
            <a:avLst>
              <a:gd name="adj" fmla="val 2449"/>
            </a:avLst>
          </a:prstGeom>
          <a:solidFill>
            <a:srgbClr val="0B2027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812280" y="16459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812280" y="2011680"/>
            <a:ext cx="44805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"_id": "commande_123",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"status": "delivered",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"customer": { "city": "sao paulo" },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"items": [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{ "product_id": "...", "price": 58.9 }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],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"payments": [ {"type": "credit_card"} ],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"review": { "score": 5 }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812280" y="53492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6492240" y="59893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vrai document de notre collection "orders"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10881360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822960" cy="8229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" name="Image 0" descr="/home/claude/soutenance/icons/bo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5625" y="609905"/>
            <a:ext cx="608990" cy="60899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554480" y="594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FastAPI, expliqué simplement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554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framework Python pour construire une API REST : une "porte d’entrée" par laquelle une application externe demande des données, sans jamais toucher directement à la base.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265176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F0F7F7"/>
          </a:solidFill>
          <a:ln/>
        </p:spPr>
      </p:sp>
      <p:sp>
        <p:nvSpPr>
          <p:cNvPr id="7" name="Shape 4"/>
          <p:cNvSpPr/>
          <p:nvPr/>
        </p:nvSpPr>
        <p:spPr>
          <a:xfrm>
            <a:off x="822960" y="29260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8" name="Image 1" descr="/home/claude/soutenanc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340" y="2991460"/>
            <a:ext cx="372161" cy="372161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3611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Valide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40233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paramètres reçus (types, bornes) avant même d’exécuter quoi que ce soit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4325112" y="265176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F0F7F7"/>
          </a:solidFill>
          <a:ln/>
        </p:spPr>
      </p:sp>
      <p:sp>
        <p:nvSpPr>
          <p:cNvPr id="12" name="Shape 8"/>
          <p:cNvSpPr/>
          <p:nvPr/>
        </p:nvSpPr>
        <p:spPr>
          <a:xfrm>
            <a:off x="4599432" y="29260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3" name="Image 2" descr="/home/claude/soutenanc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812" y="2991460"/>
            <a:ext cx="372161" cy="372161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599432" y="3611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Interroge</a:t>
            </a:r>
            <a:endParaRPr lang="en-US" sz="1800" dirty="0"/>
          </a:p>
        </p:txBody>
      </p:sp>
      <p:sp>
        <p:nvSpPr>
          <p:cNvPr id="15" name="Text 10"/>
          <p:cNvSpPr txBox="1"/>
          <p:nvPr/>
        </p:nvSpPr>
        <p:spPr>
          <a:xfrm>
            <a:off x="4599432" y="40233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à la place du client, avec le bon filtre ou la bonne agrégation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8101584" y="2651760"/>
            <a:ext cx="3520440" cy="2834640"/>
          </a:xfrm>
          <a:prstGeom prst="roundRect">
            <a:avLst>
              <a:gd name="adj" fmla="val 3871"/>
            </a:avLst>
          </a:prstGeom>
          <a:solidFill>
            <a:srgbClr val="F0F7F7"/>
          </a:solidFill>
          <a:ln/>
        </p:spPr>
      </p:sp>
      <p:sp>
        <p:nvSpPr>
          <p:cNvPr id="17" name="Shape 12"/>
          <p:cNvSpPr/>
          <p:nvPr/>
        </p:nvSpPr>
        <p:spPr>
          <a:xfrm>
            <a:off x="8375904" y="2926080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8" name="Image 3" descr="/home/claude/soutenanc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41284" y="2991460"/>
            <a:ext cx="372161" cy="372161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375904" y="3611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Documente</a:t>
            </a:r>
            <a:endParaRPr lang="en-US" sz="1800" dirty="0"/>
          </a:p>
        </p:txBody>
      </p:sp>
      <p:sp>
        <p:nvSpPr>
          <p:cNvPr id="20" name="Text 14"/>
          <p:cNvSpPr txBox="1"/>
          <p:nvPr/>
        </p:nvSpPr>
        <p:spPr>
          <a:xfrm>
            <a:off x="8375904" y="40233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automatiquement chaque route (Swagger / OpenAPI), sans effort supplémentaire</a:t>
            </a:r>
            <a:endParaRPr lang="en-US" sz="1350" dirty="0"/>
          </a:p>
        </p:txBody>
      </p:sp>
      <p:sp>
        <p:nvSpPr>
          <p:cNvPr id="21" name="Text 15"/>
          <p:cNvSpPr txBox="1"/>
          <p:nvPr/>
        </p:nvSpPr>
        <p:spPr>
          <a:xfrm>
            <a:off x="10881360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parcours d’une requête, du clic à la réponse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2377440"/>
            <a:ext cx="2468880" cy="1645920"/>
          </a:xfrm>
          <a:prstGeom prst="roundRect">
            <a:avLst>
              <a:gd name="adj" fmla="val 6667"/>
            </a:avLst>
          </a:prstGeom>
          <a:solidFill>
            <a:srgbClr val="F0F7F7"/>
          </a:solidFill>
          <a:ln/>
        </p:spPr>
      </p:sp>
      <p:sp>
        <p:nvSpPr>
          <p:cNvPr id="4" name="Shape 2"/>
          <p:cNvSpPr/>
          <p:nvPr/>
        </p:nvSpPr>
        <p:spPr>
          <a:xfrm>
            <a:off x="1417320" y="26060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soutenance/icons/us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2418" y="2701138"/>
            <a:ext cx="541325" cy="5413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730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navigateur, app, Postman...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3017520" y="288036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9" name="Shape 6"/>
          <p:cNvSpPr/>
          <p:nvPr/>
        </p:nvSpPr>
        <p:spPr>
          <a:xfrm>
            <a:off x="3429000" y="2377440"/>
            <a:ext cx="2468880" cy="1645920"/>
          </a:xfrm>
          <a:prstGeom prst="roundRect">
            <a:avLst>
              <a:gd name="adj" fmla="val 6667"/>
            </a:avLst>
          </a:prstGeom>
          <a:solidFill>
            <a:srgbClr val="0B2027"/>
          </a:solidFill>
          <a:ln/>
        </p:spPr>
      </p:sp>
      <p:sp>
        <p:nvSpPr>
          <p:cNvPr id="10" name="Shape 7"/>
          <p:cNvSpPr/>
          <p:nvPr/>
        </p:nvSpPr>
        <p:spPr>
          <a:xfrm>
            <a:off x="4297680" y="260604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soutenance/icons/server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2778" y="2701138"/>
            <a:ext cx="541325" cy="54132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42900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3566160" y="3730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 et traduit la demande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5897880" y="288036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5" name="Shape 11"/>
          <p:cNvSpPr/>
          <p:nvPr/>
        </p:nvSpPr>
        <p:spPr>
          <a:xfrm>
            <a:off x="6309360" y="2377440"/>
            <a:ext cx="2468880" cy="1645920"/>
          </a:xfrm>
          <a:prstGeom prst="roundRect">
            <a:avLst>
              <a:gd name="adj" fmla="val 6667"/>
            </a:avLst>
          </a:prstGeom>
          <a:solidFill>
            <a:srgbClr val="F0F7F7"/>
          </a:solidFill>
          <a:ln/>
        </p:spPr>
      </p:sp>
      <p:sp>
        <p:nvSpPr>
          <p:cNvPr id="16" name="Shape 12"/>
          <p:cNvSpPr/>
          <p:nvPr/>
        </p:nvSpPr>
        <p:spPr>
          <a:xfrm>
            <a:off x="7178040" y="260604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2" descr="/home/claude/soutenance/icons/databas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3138" y="2701138"/>
            <a:ext cx="541325" cy="54132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30936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446520" y="3730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cherche les documents</a:t>
            </a:r>
            <a:endParaRPr lang="en-US" sz="1050" dirty="0"/>
          </a:p>
        </p:txBody>
      </p:sp>
      <p:sp>
        <p:nvSpPr>
          <p:cNvPr id="20" name="Text 15"/>
          <p:cNvSpPr txBox="1"/>
          <p:nvPr/>
        </p:nvSpPr>
        <p:spPr>
          <a:xfrm>
            <a:off x="8778240" y="2880360"/>
            <a:ext cx="411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1" name="Shape 16"/>
          <p:cNvSpPr/>
          <p:nvPr/>
        </p:nvSpPr>
        <p:spPr>
          <a:xfrm>
            <a:off x="9189720" y="2377440"/>
            <a:ext cx="2468880" cy="1645920"/>
          </a:xfrm>
          <a:prstGeom prst="roundRect">
            <a:avLst>
              <a:gd name="adj" fmla="val 6667"/>
            </a:avLst>
          </a:prstGeom>
          <a:solidFill>
            <a:srgbClr val="0B2027"/>
          </a:solidFill>
          <a:ln/>
        </p:spPr>
      </p:sp>
      <p:sp>
        <p:nvSpPr>
          <p:cNvPr id="22" name="Shape 17"/>
          <p:cNvSpPr/>
          <p:nvPr/>
        </p:nvSpPr>
        <p:spPr>
          <a:xfrm>
            <a:off x="10058400" y="260604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23" name="Image 3" descr="/home/claude/soutenance/icons/bag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3498" y="2701138"/>
            <a:ext cx="541325" cy="54132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18972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Réponse JSON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9326880" y="37307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renvoyée au client</a:t>
            </a:r>
            <a:endParaRPr lang="en-US" sz="1050" dirty="0"/>
          </a:p>
        </p:txBody>
      </p:sp>
      <p:sp>
        <p:nvSpPr>
          <p:cNvPr id="26" name="Text 20"/>
          <p:cNvSpPr txBox="1"/>
          <p:nvPr/>
        </p:nvSpPr>
        <p:spPr>
          <a:xfrm>
            <a:off x="548640" y="45720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Le client appelle une route (ex: GET /orders/{id})    2. FastAPI valide et interroge MongoDB    3. MongoDB renvoie les documents    4. FastAPI répond en JSON, avec un code HTTP cohérent</a:t>
            </a:r>
            <a:endParaRPr lang="en-US" sz="1400" dirty="0"/>
          </a:p>
        </p:txBody>
      </p:sp>
      <p:sp>
        <p:nvSpPr>
          <p:cNvPr id="27" name="Text 21"/>
          <p:cNvSpPr txBox="1"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une API plutôt qu’un accès direct à MongoDB : sécurité, contrôle des données exposées, validation des entrées, et simplicité pour un développeur tiers.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10881360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Notre modélisation : quoi embarquer, quoi référencer ?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F0F7F7"/>
          </a:solidFill>
          <a:ln/>
        </p:spPr>
      </p:sp>
      <p:sp>
        <p:nvSpPr>
          <p:cNvPr id="4" name="Shape 2"/>
          <p:cNvSpPr/>
          <p:nvPr/>
        </p:nvSpPr>
        <p:spPr>
          <a:xfrm>
            <a:off x="868680" y="1737360"/>
            <a:ext cx="640080" cy="64008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" name="Image 0" descr="/home/claude/soutenance/icons/layers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890" y="1820570"/>
            <a:ext cx="473659" cy="47365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8470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EMBEDDING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560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items, payments, review → dans le document "orders"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15468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petit et borné (1 à 12 articles, vérifié sur les 99 441 commandes)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N’a de sens qu’au moment de CETTE commande précise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Toujours lu EN MÊME TEMPS que la commande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 seule requête pour tout récupérer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63640" y="1463040"/>
            <a:ext cx="5394960" cy="4754880"/>
          </a:xfrm>
          <a:prstGeom prst="roundRect">
            <a:avLst>
              <a:gd name="adj" fmla="val 2308"/>
            </a:avLst>
          </a:prstGeom>
          <a:solidFill>
            <a:srgbClr val="0B2027"/>
          </a:solidFill>
          <a:ln/>
        </p:spPr>
      </p:sp>
      <p:sp>
        <p:nvSpPr>
          <p:cNvPr id="10" name="Shape 7"/>
          <p:cNvSpPr/>
          <p:nvPr/>
        </p:nvSpPr>
        <p:spPr>
          <a:xfrm>
            <a:off x="6583680" y="173736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1" descr="/home/claude/soutenance/icons/lin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890" y="1820570"/>
            <a:ext cx="473659" cy="47365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06640" y="18470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RÉFÉRENCE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6583680" y="2560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products, sellers → collections séparées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6583680" y="315468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C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produit est réutilisé dans ~3,4 commandes en moyenne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C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vendeur est réutilisé dans ~36 commandes en moyenne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C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Embarquer dupliquerait les infos des dizaines de fois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CEA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 seule source de vérité par produit / vendeur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10881360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/home/claude/soutenance/icons/databas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8" y="552298"/>
            <a:ext cx="541325" cy="54132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548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MongoDB : avantages et limites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0F7F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9659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Avantages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914400" y="251460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8" name="Image 1" descr="/home/claude/soutenanc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949" y="2562149"/>
            <a:ext cx="270662" cy="27066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249631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flexible : pas besoin de migration lourde pour évoluer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914400" y="329184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2" descr="/home/claude/soutenanc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9" y="3339389"/>
            <a:ext cx="270662" cy="27066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17320" y="327355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imbriqués = moins de jointures, lectures plus rapides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914400" y="406908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4" name="Image 3" descr="/home/claude/soutenanc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949" y="4116629"/>
            <a:ext cx="270662" cy="27066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17320" y="4050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facilement en charge sur de gros volumes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914400" y="4846320"/>
            <a:ext cx="365760" cy="3657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7" name="Image 4" descr="/home/claude/soutenance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949" y="4893869"/>
            <a:ext cx="270662" cy="27066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417320" y="482803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proche du JSON manipulé par l’API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6217920" y="173736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0F7F7"/>
          </a:solidFill>
          <a:ln/>
        </p:spPr>
      </p:sp>
      <p:sp>
        <p:nvSpPr>
          <p:cNvPr id="20" name="Text 13"/>
          <p:cNvSpPr txBox="1"/>
          <p:nvPr/>
        </p:nvSpPr>
        <p:spPr>
          <a:xfrm>
            <a:off x="6583680" y="19659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</a:t>
            </a:r>
            <a:endParaRPr lang="en-US" sz="1800" dirty="0"/>
          </a:p>
        </p:txBody>
      </p:sp>
      <p:sp>
        <p:nvSpPr>
          <p:cNvPr id="21" name="Shape 14"/>
          <p:cNvSpPr/>
          <p:nvPr/>
        </p:nvSpPr>
        <p:spPr>
          <a:xfrm>
            <a:off x="6583680" y="251460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2" name="Image 5" descr="/home/claude/soutenance/icons/time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1229" y="2562149"/>
            <a:ext cx="270662" cy="27066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086600" y="249631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jointures natives : le modèle doit être pensé pour CHAQUE usage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6583680" y="329184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5" name="Image 6" descr="/home/claude/soutenance/icons/times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1229" y="3339389"/>
            <a:ext cx="270662" cy="270662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7086600" y="327355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Duplication possible si mal modélisé (risque d’incohérence)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6583680" y="406908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8" name="Image 7" descr="/home/claude/soutenance/icons/times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1229" y="4116629"/>
            <a:ext cx="270662" cy="270662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7086600" y="4050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 adapté aux transactions complexes multi-documents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6583680" y="484632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31" name="Image 8" descr="/home/claude/soutenance/icons/times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1229" y="4893869"/>
            <a:ext cx="270662" cy="270662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7086600" y="482803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une vraie réflexion en amont (pas de schéma imposé = liberté, mais aussi responsabilité)</a:t>
            </a:r>
            <a:endParaRPr lang="en-US" sz="1300" dirty="0"/>
          </a:p>
        </p:txBody>
      </p:sp>
      <p:sp>
        <p:nvSpPr>
          <p:cNvPr id="33" name="Text 22"/>
          <p:cNvSpPr txBox="1"/>
          <p:nvPr/>
        </p:nvSpPr>
        <p:spPr>
          <a:xfrm>
            <a:off x="10881360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3" name="Image 0" descr="/home/claude/soutenance/icons/bo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8" y="552298"/>
            <a:ext cx="541325" cy="54132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5486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FastAPI : avantages et limites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0F7F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14400" y="19659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Avantages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914400" y="251460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8" name="Image 1" descr="/home/claude/soutenanc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949" y="2562149"/>
            <a:ext cx="270662" cy="27066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249631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Swagger générée automatiquement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914400" y="329184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1" name="Image 2" descr="/home/claude/soutenanc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949" y="3339389"/>
            <a:ext cx="270662" cy="27066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417320" y="327355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des paramètres intégrée (types, bornes) sans code en plus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914400" y="406908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4" name="Image 3" descr="/home/claude/soutenanc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949" y="4116629"/>
            <a:ext cx="270662" cy="27066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17320" y="4050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Très performant (asynchrone), rapide à écrire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914400" y="484632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7" name="Image 4" descr="/home/claude/soutenance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949" y="4893869"/>
            <a:ext cx="270662" cy="27066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417320" y="482803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d’erreur clairs et standardisés (422, 404...)</a:t>
            </a:r>
            <a:endParaRPr lang="en-US" sz="1300" dirty="0"/>
          </a:p>
        </p:txBody>
      </p:sp>
      <p:sp>
        <p:nvSpPr>
          <p:cNvPr id="19" name="Shape 12"/>
          <p:cNvSpPr/>
          <p:nvPr/>
        </p:nvSpPr>
        <p:spPr>
          <a:xfrm>
            <a:off x="6217920" y="1737360"/>
            <a:ext cx="5394960" cy="4297680"/>
          </a:xfrm>
          <a:prstGeom prst="roundRect">
            <a:avLst>
              <a:gd name="adj" fmla="val 2553"/>
            </a:avLst>
          </a:prstGeom>
          <a:solidFill>
            <a:srgbClr val="F0F7F7"/>
          </a:solidFill>
          <a:ln/>
        </p:spPr>
      </p:sp>
      <p:sp>
        <p:nvSpPr>
          <p:cNvPr id="20" name="Text 13"/>
          <p:cNvSpPr txBox="1"/>
          <p:nvPr/>
        </p:nvSpPr>
        <p:spPr>
          <a:xfrm>
            <a:off x="6583680" y="19659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</a:t>
            </a:r>
            <a:endParaRPr lang="en-US" sz="1800" dirty="0"/>
          </a:p>
        </p:txBody>
      </p:sp>
      <p:sp>
        <p:nvSpPr>
          <p:cNvPr id="21" name="Shape 14"/>
          <p:cNvSpPr/>
          <p:nvPr/>
        </p:nvSpPr>
        <p:spPr>
          <a:xfrm>
            <a:off x="6583680" y="251460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2" name="Image 5" descr="/home/claude/soutenance/icons/times_whit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31229" y="2562149"/>
            <a:ext cx="270662" cy="27066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086600" y="249631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remplace pas une vraie réflexion métier sur les routes à exposer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6583680" y="329184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5" name="Image 6" descr="/home/claude/soutenance/icons/times_whit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1229" y="3339389"/>
            <a:ext cx="270662" cy="270662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7086600" y="327355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performance réelle dépend surtout de la base derrière (MongoDB)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6583680" y="406908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28" name="Image 7" descr="/home/claude/soutenance/icons/times_white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1229" y="4116629"/>
            <a:ext cx="270662" cy="270662"/>
          </a:xfrm>
          <a:prstGeom prst="rect">
            <a:avLst/>
          </a:prstGeom>
        </p:spPr>
      </p:pic>
      <p:sp>
        <p:nvSpPr>
          <p:cNvPr id="29" name="Text 19"/>
          <p:cNvSpPr txBox="1"/>
          <p:nvPr/>
        </p:nvSpPr>
        <p:spPr>
          <a:xfrm>
            <a:off x="7086600" y="405079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Ecosystème plus jeune que Flask/Django sur certains points</a:t>
            </a:r>
            <a:endParaRPr lang="en-US" sz="1300" dirty="0"/>
          </a:p>
        </p:txBody>
      </p:sp>
      <p:sp>
        <p:nvSpPr>
          <p:cNvPr id="30" name="Shape 20"/>
          <p:cNvSpPr/>
          <p:nvPr/>
        </p:nvSpPr>
        <p:spPr>
          <a:xfrm>
            <a:off x="6583680" y="484632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31" name="Image 8" descr="/home/claude/soutenance/icons/times_white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1229" y="4893869"/>
            <a:ext cx="270662" cy="270662"/>
          </a:xfrm>
          <a:prstGeom prst="rect">
            <a:avLst/>
          </a:prstGeom>
        </p:spPr>
      </p:pic>
      <p:sp>
        <p:nvSpPr>
          <p:cNvPr id="32" name="Text 21"/>
          <p:cNvSpPr txBox="1"/>
          <p:nvPr/>
        </p:nvSpPr>
        <p:spPr>
          <a:xfrm>
            <a:off x="7086600" y="4828032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 de rester rigoureux sur la gestion des erreurs, sinon les bénéfices se perdent</a:t>
            </a:r>
            <a:endParaRPr lang="en-US" sz="1300" dirty="0"/>
          </a:p>
        </p:txBody>
      </p:sp>
      <p:sp>
        <p:nvSpPr>
          <p:cNvPr id="33" name="Text 22"/>
          <p:cNvSpPr txBox="1"/>
          <p:nvPr/>
        </p:nvSpPr>
        <p:spPr>
          <a:xfrm>
            <a:off x="10881360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B85042"/>
          </a:solidFill>
          <a:ln/>
        </p:spPr>
      </p:sp>
      <p:pic>
        <p:nvPicPr>
          <p:cNvPr id="3" name="Image 0" descr="/home/claude/soutenance/icons/bug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8" y="552298"/>
            <a:ext cx="541325" cy="54132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5486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l’analyse des données a révélé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73736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0F7F7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68680" y="190195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24 % et 33 %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3429000" y="1874520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codes postaux (clients / vendeurs) perdaient leur zéro initial à la lecture — corrigé en forçant la lecture en texte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315468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0F7F7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8680" y="331927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789 cas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3429000" y="3291840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review_id partagé entre deux commandes différentes — particularité connue du dataset, sans impact sur notre modèle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457200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F0F7F7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68680" y="4736592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orphelin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3429000" y="4709160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trouvé sur l’intégrité référentielle (produits, vendeurs, clients) — vérifié plutôt que supposé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Vérifier plutôt que supposer : chaque décision de nettoyage s’appuie sur une mesure réelle, pas une intuition.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10881360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/home/claude/soutenance/icons/chart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8" y="552298"/>
            <a:ext cx="541325" cy="54132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5486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index qui change tout : explain() en pratique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Requête : trouver les commandes contenant un produit précis (db.orders.find({"items.product_id": "..."}))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210312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15343B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14300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7A2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 — sans index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2834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COLLSCAN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143000" y="34747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99 441</a:t>
            </a:r>
            <a:endParaRPr lang="en-US" sz="46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4251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examinés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4709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7A2A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122 ms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5212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d’exécution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217920" y="2103120"/>
            <a:ext cx="5120640" cy="3566160"/>
          </a:xfrm>
          <a:prstGeom prst="roundRect">
            <a:avLst>
              <a:gd name="adj" fmla="val 3077"/>
            </a:avLst>
          </a:prstGeom>
          <a:solidFill>
            <a:srgbClr val="02C39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537960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APRÈS — avec index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6537960" y="2834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02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IXSCAN → FETCH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6537960" y="34747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600" dirty="0"/>
          </a:p>
        </p:txBody>
      </p:sp>
      <p:sp>
        <p:nvSpPr>
          <p:cNvPr id="17" name="Text 14"/>
          <p:cNvSpPr txBox="1"/>
          <p:nvPr/>
        </p:nvSpPr>
        <p:spPr>
          <a:xfrm>
            <a:off x="6537960" y="4251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examinés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537960" y="470916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0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ms</a:t>
            </a:r>
            <a:endParaRPr lang="en-US" sz="2600" dirty="0"/>
          </a:p>
        </p:txBody>
      </p:sp>
      <p:sp>
        <p:nvSpPr>
          <p:cNvPr id="19" name="Text 16"/>
          <p:cNvSpPr txBox="1"/>
          <p:nvPr/>
        </p:nvSpPr>
        <p:spPr>
          <a:xfrm>
            <a:off x="6537960" y="5212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20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d’exécution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5623560" y="356616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2C3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4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~19 888 fois moins de documents lus, temps divisé par ~20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0881360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731520" cy="7315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" name="Image 0" descr="/home/claude/soutenance/icons/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738" y="552298"/>
            <a:ext cx="541325" cy="54132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463040" y="5486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2E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qu’on a compris, découvert, corrigé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6" name="Image 1" descr="/home/claude/soutenance/icons/check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" y="1888236"/>
            <a:ext cx="338328" cy="33832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34440" y="1783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Modéliser en MongoDB, c’est raisonner par USAGE, pas juste "recopier" les tables SQL de départ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548640" y="288036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9" name="Image 2" descr="/home/claude/soutenance/icons/check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" y="2939796"/>
            <a:ext cx="338328" cy="33832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234440" y="28346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Beaucoup de décisions se vérifient avec des chiffres (cardinalités, ratios) plutôt qu’à l’intuition</a:t>
            </a:r>
            <a:endParaRPr lang="en-US" sz="1600" dirty="0"/>
          </a:p>
        </p:txBody>
      </p:sp>
      <p:sp>
        <p:nvSpPr>
          <p:cNvPr id="11" name="Shape 6"/>
          <p:cNvSpPr/>
          <p:nvPr/>
        </p:nvSpPr>
        <p:spPr>
          <a:xfrm>
            <a:off x="548640" y="393192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2" name="Image 3" descr="/home/claude/soutenance/icons/check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" y="3991356"/>
            <a:ext cx="338328" cy="338328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234440" y="38862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bug de lecture de données (zip codes) peut passer inaperçu longtemps s’il n’y a pas de vérification explicite</a:t>
            </a:r>
            <a:endParaRPr lang="en-US" sz="1600" dirty="0"/>
          </a:p>
        </p:txBody>
      </p:sp>
      <p:sp>
        <p:nvSpPr>
          <p:cNvPr id="14" name="Shape 8"/>
          <p:cNvSpPr/>
          <p:nvPr/>
        </p:nvSpPr>
        <p:spPr>
          <a:xfrm>
            <a:off x="548640" y="4983480"/>
            <a:ext cx="457200" cy="457200"/>
          </a:xfrm>
          <a:prstGeom prst="ellipse">
            <a:avLst/>
          </a:prstGeom>
          <a:solidFill>
            <a:srgbClr val="00A896"/>
          </a:solidFill>
          <a:ln/>
        </p:spPr>
      </p:sp>
      <p:pic>
        <p:nvPicPr>
          <p:cNvPr id="15" name="Image 4" descr="/home/claude/soutenance/icons/check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076" y="5042916"/>
            <a:ext cx="338328" cy="33832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234440" y="493776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index n’est utile que sur une requête sélective — pas une vérité universelle, ça dépend du cas d’usage</a:t>
            </a:r>
            <a:endParaRPr lang="en-US" sz="1600" dirty="0"/>
          </a:p>
        </p:txBody>
      </p:sp>
      <p:sp>
        <p:nvSpPr>
          <p:cNvPr id="17" name="Text 10"/>
          <p:cNvSpPr txBox="1"/>
          <p:nvPr/>
        </p:nvSpPr>
        <p:spPr>
          <a:xfrm>
            <a:off x="10881360" y="647395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1463040"/>
            <a:ext cx="1463040" cy="146304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" name="Image 0" descr="/home/claude/soutenance/icons/play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6555" y="1653235"/>
            <a:ext cx="1082650" cy="108265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20040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Démonstration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  →  requête en direct  →  réponse JSON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0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743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votre attention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5661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D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Dépôt Git : [lien à compléter]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2026-09-16T13:46:52Z</dcterms:created>
  <dcterms:modified xsi:type="dcterms:W3CDTF">2026-09-16T13:46:52Z</dcterms:modified>
</cp:coreProperties>
</file>